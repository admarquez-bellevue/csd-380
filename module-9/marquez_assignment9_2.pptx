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18"/>
    <p:restoredTop sz="94660"/>
  </p:normalViewPr>
  <p:slideViewPr>
    <p:cSldViewPr snapToGrid="0">
      <p:cViewPr>
        <p:scale>
          <a:sx n="50" d="100"/>
          <a:sy n="50" d="100"/>
        </p:scale>
        <p:origin x="248" y="1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justculture.hqa.ca/overcoming-barriers-to-a-just-culture/" TargetMode="External"/><Relationship Id="rId2" Type="http://schemas.openxmlformats.org/officeDocument/2006/relationships/hyperlink" Target="https://trailhead.salesforce.com/content/learn/modules/continuous-innovation-with-copado/understand-the-role-of-culture-and-resilienc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ops.com/barriers-devops-culture-chang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847DA-2B6C-2153-9788-51401A5279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Establishing a Just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F0764-D7DC-4AB9-E7A4-EAED1F0F3C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Adrian Marquez</a:t>
            </a:r>
          </a:p>
          <a:p>
            <a:r>
              <a:rPr lang="en-US" dirty="0"/>
              <a:t>07/13/2025</a:t>
            </a:r>
          </a:p>
          <a:p>
            <a:r>
              <a:rPr lang="en-US" dirty="0"/>
              <a:t>CSD 380</a:t>
            </a:r>
          </a:p>
        </p:txBody>
      </p:sp>
    </p:spTree>
    <p:extLst>
      <p:ext uri="{BB962C8B-B14F-4D97-AF65-F5344CB8AC3E}">
        <p14:creationId xmlns:p14="http://schemas.microsoft.com/office/powerpoint/2010/main" val="2446471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44F46-3FAF-B758-7080-9F523ED3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Just Culture?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1D2A8-FEF9-D33A-605F-8411E15D0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Definition: A cultural framework balancing system-level learning with individual accountability.</a:t>
            </a:r>
          </a:p>
          <a:p>
            <a:r>
              <a:rPr lang="en-US" sz="2400" dirty="0"/>
              <a:t>Importance in DevOps: Enables open error reporting, continuous learning, and high psychological safety.</a:t>
            </a:r>
          </a:p>
        </p:txBody>
      </p:sp>
    </p:spTree>
    <p:extLst>
      <p:ext uri="{BB962C8B-B14F-4D97-AF65-F5344CB8AC3E}">
        <p14:creationId xmlns:p14="http://schemas.microsoft.com/office/powerpoint/2010/main" val="3962223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315E2-920A-BE6F-E101-EE79F7EAC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Matters In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C881D-CB2B-F74D-1C93-F751721B8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Encourages risk transparency and early failure detection.</a:t>
            </a:r>
          </a:p>
          <a:p>
            <a:r>
              <a:rPr lang="en-US" sz="2400" dirty="0"/>
              <a:t>Fosters collaboration and trust across teams.</a:t>
            </a:r>
          </a:p>
          <a:p>
            <a:r>
              <a:rPr lang="en-US" sz="2400" dirty="0"/>
              <a:t>Drives continuous improvement through learning from incidents.</a:t>
            </a:r>
          </a:p>
        </p:txBody>
      </p:sp>
    </p:spTree>
    <p:extLst>
      <p:ext uri="{BB962C8B-B14F-4D97-AF65-F5344CB8AC3E}">
        <p14:creationId xmlns:p14="http://schemas.microsoft.com/office/powerpoint/2010/main" val="3482732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" name="Content Placeholder 3" descr="A diagram of a different culture&#10;&#10;AI-generated content may be incorrect.">
            <a:extLst>
              <a:ext uri="{FF2B5EF4-FFF2-40B4-BE49-F238E27FC236}">
                <a16:creationId xmlns:a16="http://schemas.microsoft.com/office/drawing/2014/main" id="{06CCB521-6A4A-23BE-A5A3-38656D1AD8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097962"/>
            <a:ext cx="4825999" cy="482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54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28A17-DACA-F74B-4929-458CCD03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 1: Blame &amp; Attribution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E8902-CF73-DA4F-C725-F4CF8C703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Natural human tendency to blame individuals rather than systems.</a:t>
            </a:r>
          </a:p>
          <a:p>
            <a:r>
              <a:rPr lang="en-US" sz="2400" dirty="0"/>
              <a:t>Outcomes heavily influence whether discipline is applied (outcome bias).</a:t>
            </a:r>
          </a:p>
          <a:p>
            <a:r>
              <a:rPr lang="en-US" sz="2400" dirty="0"/>
              <a:t>DevOps fast pace can amplify scapegoating culture.</a:t>
            </a:r>
          </a:p>
        </p:txBody>
      </p:sp>
    </p:spTree>
    <p:extLst>
      <p:ext uri="{BB962C8B-B14F-4D97-AF65-F5344CB8AC3E}">
        <p14:creationId xmlns:p14="http://schemas.microsoft.com/office/powerpoint/2010/main" val="3787540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A3140-68E0-B866-03C2-0B4901343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829800" cy="1485900"/>
          </a:xfrm>
        </p:spPr>
        <p:txBody>
          <a:bodyPr/>
          <a:lstStyle/>
          <a:p>
            <a:r>
              <a:rPr lang="en-US" dirty="0"/>
              <a:t>Barrier 2: Power &amp; Structural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3A31A-B807-2160-2B68-57700DC93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Hierarchies and power gradients suppress speaking up.</a:t>
            </a:r>
          </a:p>
          <a:p>
            <a:r>
              <a:rPr lang="en-US" sz="2400" dirty="0"/>
              <a:t>Management and media pressure to assign blame.</a:t>
            </a:r>
          </a:p>
          <a:p>
            <a:r>
              <a:rPr lang="en-US" sz="2400" dirty="0"/>
              <a:t>DevOps silos can perpetuate uneven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1067516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71686-36F7-BF27-CDF2-E89970219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 3: Lack of Transparency &amp;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5FC0D-DC11-900B-BC6F-21F00CFE1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Unclear assessment/reporting processes.</a:t>
            </a:r>
          </a:p>
          <a:p>
            <a:r>
              <a:rPr lang="en-US" sz="2400" dirty="0"/>
              <a:t>Inconsistent responses to incidents, which reduces trust in safety procedures.</a:t>
            </a:r>
          </a:p>
        </p:txBody>
      </p:sp>
    </p:spTree>
    <p:extLst>
      <p:ext uri="{BB962C8B-B14F-4D97-AF65-F5344CB8AC3E}">
        <p14:creationId xmlns:p14="http://schemas.microsoft.com/office/powerpoint/2010/main" val="1470359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BFF6E-6A5E-8618-FF81-2B340A5AE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 4: Fear &amp; Employee Silence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B5BE6-0E85-0A5D-7867-84B92002B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Fear of shame, punishment, or job loss leads to underreporting.</a:t>
            </a:r>
          </a:p>
          <a:p>
            <a:r>
              <a:rPr lang="en-US" sz="2400" dirty="0"/>
              <a:t>The “don’t speak up” culture harms DevOps feedback loops and blunts </a:t>
            </a:r>
            <a:r>
              <a:rPr lang="en-US" sz="2400" dirty="0" err="1"/>
              <a:t>reslilience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9217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4B4ED-A07C-2E54-72BA-68BDD1BD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Overcoming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CD06A-47FA-6842-30D3-E9A8D97EA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Leadership commitment: explicit policies, no punishment, clear accountability.</a:t>
            </a:r>
          </a:p>
          <a:p>
            <a:r>
              <a:rPr lang="en-US" sz="2400" dirty="0"/>
              <a:t>Education &amp; awareness: training on error classification and context-led investigations.</a:t>
            </a:r>
          </a:p>
          <a:p>
            <a:r>
              <a:rPr lang="en-US" sz="2400" dirty="0"/>
              <a:t>Transparent processes: standardizing incident reporting and review.</a:t>
            </a:r>
          </a:p>
          <a:p>
            <a:r>
              <a:rPr lang="en-US" sz="2400" dirty="0"/>
              <a:t>Support psychological safety: reward reporting, encourage open feedback, and reduce fear of repercussion.</a:t>
            </a:r>
          </a:p>
        </p:txBody>
      </p:sp>
    </p:spTree>
    <p:extLst>
      <p:ext uri="{BB962C8B-B14F-4D97-AF65-F5344CB8AC3E}">
        <p14:creationId xmlns:p14="http://schemas.microsoft.com/office/powerpoint/2010/main" val="3601976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6973-F921-029C-EC4C-321C00F76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A7176-EE7B-B7D6-E675-634FC68E5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Just Culture is </a:t>
            </a:r>
            <a:r>
              <a:rPr lang="en-US" sz="2800" b="1" u="sng" dirty="0"/>
              <a:t>ESSENTIAL</a:t>
            </a:r>
            <a:r>
              <a:rPr lang="en-US" sz="2800" dirty="0"/>
              <a:t> for DevOps success.</a:t>
            </a:r>
          </a:p>
          <a:p>
            <a:r>
              <a:rPr lang="en-US" sz="2800" dirty="0"/>
              <a:t>System changes begin with leaders </a:t>
            </a:r>
            <a:r>
              <a:rPr lang="en-US" sz="2800" b="1" dirty="0"/>
              <a:t>AND </a:t>
            </a:r>
            <a:r>
              <a:rPr lang="en-US" sz="2800" dirty="0"/>
              <a:t>with everyone’s voice.</a:t>
            </a:r>
          </a:p>
        </p:txBody>
      </p:sp>
    </p:spTree>
    <p:extLst>
      <p:ext uri="{BB962C8B-B14F-4D97-AF65-F5344CB8AC3E}">
        <p14:creationId xmlns:p14="http://schemas.microsoft.com/office/powerpoint/2010/main" val="3351368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384C4-7B75-5805-7D4C-658B06D80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AE6AC-5F36-CBC6-8837-FD71DA117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Understand the Role of Culture and Resilience</a:t>
            </a:r>
            <a:r>
              <a:rPr lang="en-US" dirty="0"/>
              <a:t>. (2025). Trailhead. </a:t>
            </a:r>
            <a:r>
              <a:rPr lang="en-US" dirty="0">
                <a:hlinkClick r:id="rId2"/>
              </a:rPr>
              <a:t>https://trailhead.salesforce.com/content/learn/modules/continuous-innovation-with-copado/understand-the-role-of-culture-and-resilience</a:t>
            </a:r>
            <a:endParaRPr lang="en-US" dirty="0"/>
          </a:p>
          <a:p>
            <a:r>
              <a:rPr lang="en-US" i="1" dirty="0"/>
              <a:t>Overcoming Barriers to a Just Culture – Health Quality Alberta- Just Culture</a:t>
            </a:r>
            <a:r>
              <a:rPr lang="en-US" dirty="0"/>
              <a:t>. (2025). </a:t>
            </a:r>
            <a:r>
              <a:rPr lang="en-US" dirty="0" err="1"/>
              <a:t>Justculture.hqa.ca</a:t>
            </a:r>
            <a:r>
              <a:rPr lang="en-US" dirty="0"/>
              <a:t>. </a:t>
            </a:r>
            <a:r>
              <a:rPr lang="en-US" dirty="0">
                <a:hlinkClick r:id="rId3"/>
              </a:rPr>
              <a:t>https://justculture.hqa.ca/overcoming-barriers-to-a-just-culture/</a:t>
            </a:r>
            <a:endParaRPr lang="en-US" dirty="0"/>
          </a:p>
          <a:p>
            <a:r>
              <a:rPr lang="en-US" dirty="0"/>
              <a:t>Macvittie, D. (2017, October 13). </a:t>
            </a:r>
            <a:r>
              <a:rPr lang="en-US" i="1" dirty="0"/>
              <a:t>Barriers to DevOps Culture Change - </a:t>
            </a:r>
            <a:r>
              <a:rPr lang="en-US" i="1" dirty="0" err="1"/>
              <a:t>DevOps.com</a:t>
            </a:r>
            <a:r>
              <a:rPr lang="en-US" dirty="0"/>
              <a:t>. </a:t>
            </a:r>
            <a:r>
              <a:rPr lang="en-US" dirty="0" err="1"/>
              <a:t>DevOps.com</a:t>
            </a:r>
            <a:r>
              <a:rPr lang="en-US" dirty="0"/>
              <a:t>. </a:t>
            </a:r>
            <a:r>
              <a:rPr lang="en-US" dirty="0">
                <a:hlinkClick r:id="rId4"/>
              </a:rPr>
              <a:t>https://devops.com/barriers-devops</a:t>
            </a:r>
            <a:r>
              <a:rPr lang="en-US">
                <a:hlinkClick r:id="rId4"/>
              </a:rPr>
              <a:t>-culture-change/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13337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30</TotalTime>
  <Words>366</Words>
  <Application>Microsoft Macintosh PowerPoint</Application>
  <PresentationFormat>Widescreen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Franklin Gothic Book</vt:lpstr>
      <vt:lpstr>Crop</vt:lpstr>
      <vt:lpstr>Establishing a Just Culture</vt:lpstr>
      <vt:lpstr>What Is Just Culture?</vt:lpstr>
      <vt:lpstr>Why It Matters In DevOps</vt:lpstr>
      <vt:lpstr>PowerPoint Presentation</vt:lpstr>
      <vt:lpstr>Barrier 1: Blame &amp; Attribution Bias</vt:lpstr>
      <vt:lpstr>Barrier 2: Power &amp; Structural Constraints</vt:lpstr>
      <vt:lpstr>Barrier 3: Lack of Transparency &amp; Consistency</vt:lpstr>
      <vt:lpstr>Barrier 4: Fear &amp; Employee Silence</vt:lpstr>
      <vt:lpstr>Overcoming Challenges</vt:lpstr>
      <vt:lpstr>Conclusion: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Marquez, Adrian (anmarquez)</dc:creator>
  <cp:lastModifiedBy>Marquez, Adrian (anmarquez)</cp:lastModifiedBy>
  <cp:revision>1</cp:revision>
  <dcterms:created xsi:type="dcterms:W3CDTF">2025-07-14T02:33:37Z</dcterms:created>
  <dcterms:modified xsi:type="dcterms:W3CDTF">2025-07-14T03:04:28Z</dcterms:modified>
</cp:coreProperties>
</file>